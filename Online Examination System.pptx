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7" r:id="rId5"/>
  </p:sldMasterIdLst>
  <p:notesMasterIdLst>
    <p:notesMasterId r:id="rId18"/>
  </p:notesMasterIdLst>
  <p:sldIdLst>
    <p:sldId id="271" r:id="rId6"/>
    <p:sldId id="258" r:id="rId7"/>
    <p:sldId id="259" r:id="rId8"/>
    <p:sldId id="260" r:id="rId9"/>
    <p:sldId id="273" r:id="rId10"/>
    <p:sldId id="261" r:id="rId11"/>
    <p:sldId id="262" r:id="rId12"/>
    <p:sldId id="263" r:id="rId13"/>
    <p:sldId id="265" r:id="rId14"/>
    <p:sldId id="272" r:id="rId15"/>
    <p:sldId id="266" r:id="rId16"/>
    <p:sldId id="270"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D2DB76-8D7C-4AE2-9B58-F8D5E9741CAB}">
          <p14:sldIdLst>
            <p14:sldId id="271"/>
            <p14:sldId id="258"/>
            <p14:sldId id="259"/>
            <p14:sldId id="260"/>
            <p14:sldId id="273"/>
            <p14:sldId id="261"/>
            <p14:sldId id="262"/>
            <p14:sldId id="263"/>
          </p14:sldIdLst>
        </p14:section>
        <p14:section name="Untitled Section" id="{05F31C8B-5A1D-4B8D-BD9C-7F59133A120A}">
          <p14:sldIdLst>
            <p14:sldId id="265"/>
            <p14:sldId id="272"/>
            <p14:sldId id="266"/>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60"/>
  </p:normalViewPr>
  <p:slideViewPr>
    <p:cSldViewPr snapToGrid="0">
      <p:cViewPr varScale="1">
        <p:scale>
          <a:sx n="78" d="100"/>
          <a:sy n="78" d="100"/>
        </p:scale>
        <p:origin x="101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ED3EB6C-23AE-4C1E-80E0-A82E2828780F}" type="datetimeFigureOut">
              <a:rPr lang="en-IN" smtClean="0"/>
              <a:t>29-09-2025</a:t>
            </a:fld>
            <a:endParaRPr lang="en-IN"/>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CD028DC-02A5-4F27-86EA-D9B4BF91037A}"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2" name="Google Shape;4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c78129218a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00" name="Google Shape;100;g2c78129218a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8" name="Google Shape;28;p8"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30" name="Google Shape;30;p8"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8" name="Google Shape;28;p8"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30" name="Google Shape;30;p8"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8" name="Google Shape;28;p8"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30" name="Google Shape;30;p8"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8" name="Google Shape;28;p8"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30" name="Google Shape;30;p8"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lang="en-IN"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4" name="Footer Placeholder 3"/>
          <p:cNvSpPr>
            <a:spLocks noGrp="1"/>
          </p:cNvSpPr>
          <p:nvPr>
            <p:ph type="ftr" idx="11"/>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lang="en-IN"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5" name="Slide Number Placeholder 4"/>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smtClean="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8" name="Google Shape;28;p8"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0" name="Google Shape;30;p8"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2.jpeg"/><Relationship Id="rId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6.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17" name="Google Shape;17;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1" name="Google Shape;21;p7" descr="LOGO.gif"/>
            <p:cNvPicPr preferRelativeResize="0"/>
            <p:nvPr/>
          </p:nvPicPr>
          <p:blipFill rotWithShape="1">
            <a:blip r:embed="rId3"/>
            <a:srcRect b="10713"/>
            <a:stretch>
              <a:fillRect/>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23" name="Google Shape;23;p7"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17" name="Google Shape;17;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1" name="Google Shape;21;p7" descr="LOGO.gif"/>
            <p:cNvPicPr preferRelativeResize="0"/>
            <p:nvPr/>
          </p:nvPicPr>
          <p:blipFill rotWithShape="1">
            <a:blip r:embed="rId3"/>
            <a:srcRect b="10713"/>
            <a:stretch>
              <a:fillRect/>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23" name="Google Shape;23;p7"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17" name="Google Shape;17;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1" name="Google Shape;21;p7" descr="LOGO.gif"/>
            <p:cNvPicPr preferRelativeResize="0"/>
            <p:nvPr/>
          </p:nvPicPr>
          <p:blipFill rotWithShape="1">
            <a:blip r:embed="rId3"/>
            <a:srcRect b="10713"/>
            <a:stretch>
              <a:fillRect/>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23" name="Google Shape;23;p7"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panose="020B0604020202020204"/>
              <a:buNone/>
              <a:defRPr/>
            </a:pPr>
            <a:endParaRPr kumimoji="0"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17" name="Google Shape;17;p7" descr="LOGO.gif"/>
          <p:cNvPicPr preferRelativeResize="0"/>
          <p:nvPr/>
        </p:nvPicPr>
        <p:blipFill rotWithShape="1">
          <a:blip r:embed="rId4"/>
          <a:srcRect b="10713"/>
          <a:stretch>
            <a:fillRect/>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4"/>
          <a:srcRect b="10713"/>
          <a:stretch>
            <a:fillRect/>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21" name="Google Shape;21;p7" descr="LOGO.gif"/>
            <p:cNvPicPr preferRelativeResize="0"/>
            <p:nvPr/>
          </p:nvPicPr>
          <p:blipFill rotWithShape="1">
            <a:blip r:embed="rId4"/>
            <a:srcRect b="10713"/>
            <a:stretch>
              <a:fillRect/>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grpSp>
      <p:pic>
        <p:nvPicPr>
          <p:cNvPr id="23" name="Google Shape;23;p7" descr="logo.jpg"/>
          <p:cNvPicPr preferRelativeResize="0"/>
          <p:nvPr/>
        </p:nvPicPr>
        <p:blipFill rotWithShape="1">
          <a:blip r:embed="rId5"/>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5" r:id="rId1"/>
    <p:sldLayoutId id="2147483656"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 name="Google Shape;17;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 name="Google Shape;21;p7" descr="LOGO.gif"/>
            <p:cNvPicPr preferRelativeResize="0"/>
            <p:nvPr/>
          </p:nvPicPr>
          <p:blipFill rotWithShape="1">
            <a:blip r:embed="rId3"/>
            <a:srcRect b="10713"/>
            <a:stretch>
              <a:fillRect/>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3" name="Google Shape;23;p7"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Times New Roman" panose="02020603050405020304"/>
                <a:ea typeface="Times New Roman" panose="02020603050405020304"/>
                <a:cs typeface="Times New Roman" panose="02020603050405020304"/>
                <a:sym typeface="Times New Roman" panose="02020603050405020304"/>
              </a:rPr>
              <a:t>1</a:t>
            </a:fld>
            <a:endParaRPr kumimoji="0" sz="1200" b="0" i="0" u="none" strike="noStrike" kern="0" cap="none" spc="0" normalizeH="0" baseline="0" noProof="0">
              <a:ln>
                <a:noFill/>
              </a:ln>
              <a:solidFill>
                <a:srgbClr val="898989"/>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46" name="Google Shape;46;p10"/>
          <p:cNvSpPr txBox="1"/>
          <p:nvPr/>
        </p:nvSpPr>
        <p:spPr>
          <a:xfrm>
            <a:off x="-457200" y="2118089"/>
            <a:ext cx="9144000" cy="4087463"/>
          </a:xfrm>
          <a:prstGeom prst="rect">
            <a:avLst/>
          </a:prstGeom>
          <a:noFill/>
          <a:ln>
            <a:noFill/>
          </a:ln>
        </p:spPr>
        <p:txBody>
          <a:bodyPr spcFirstLastPara="1" wrap="square" lIns="91425" tIns="331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endParaRPr kumimoji="0" sz="2800" b="1" i="0" u="none" strike="noStrike" kern="0" cap="none" spc="0" normalizeH="0" baseline="0" noProof="0" dirty="0">
              <a:ln>
                <a:noFill/>
              </a:ln>
              <a:solidFill>
                <a:srgbClr val="00206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endParaRPr kumimoji="0" sz="3600" b="1" i="0" u="none" strike="noStrike" kern="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endParaRPr kumimoji="0" sz="3600" b="1" i="0" u="none" strike="noStrike" kern="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endParaRPr lang="en-IN" sz="2400" b="1" kern="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r>
              <a:rPr lang="en-IN" sz="2400" b="1" kern="0"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Online Examination System</a:t>
            </a:r>
          </a:p>
          <a:p>
            <a:pPr marL="0" marR="0" lvl="0" indent="0" algn="ctr" defTabSz="914400" rtl="0" eaLnBrk="1" fontAlgn="auto" latinLnBrk="0" hangingPunct="1">
              <a:lnSpc>
                <a:spcPct val="100000"/>
              </a:lnSpc>
              <a:spcBef>
                <a:spcPts val="0"/>
              </a:spcBef>
              <a:spcAft>
                <a:spcPts val="0"/>
              </a:spcAft>
              <a:buClr>
                <a:srgbClr val="000000"/>
              </a:buClr>
              <a:buSzPts val="2400"/>
              <a:buFont typeface="Arial" panose="020B0604020202020204"/>
              <a:buNone/>
              <a:defRPr/>
            </a:pPr>
            <a:endParaRPr kumimoji="0" sz="2400" b="1" i="0" u="none" strike="noStrike" kern="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r>
              <a:rPr kumimoji="0" lang="en-US" sz="1800" b="1" i="0" u="none" strike="noStrike" kern="0" cap="none" spc="0" normalizeH="0" baseline="0" noProof="0" dirty="0">
                <a:ln>
                  <a:noFill/>
                </a:ln>
                <a:solidFill>
                  <a:srgbClr val="1F497D"/>
                </a:solidFill>
                <a:effectLst/>
                <a:uLnTx/>
                <a:uFillTx/>
                <a:latin typeface="Times New Roman" panose="02020603050405020304"/>
                <a:cs typeface="Times New Roman" panose="02020603050405020304"/>
                <a:sym typeface="Times New Roman" panose="02020603050405020304"/>
              </a:rPr>
              <a:t>Lavanaya Goyal, 23109906</a:t>
            </a:r>
            <a:r>
              <a:rPr kumimoji="0" lang="en-IN" altLang="en-US" sz="1800" b="1" i="0" u="none" strike="noStrike" kern="0" cap="none" spc="0" normalizeH="0" baseline="0" noProof="0" dirty="0">
                <a:ln>
                  <a:noFill/>
                </a:ln>
                <a:solidFill>
                  <a:srgbClr val="1F497D"/>
                </a:solidFill>
                <a:effectLst/>
                <a:uLnTx/>
                <a:uFillTx/>
                <a:latin typeface="Times New Roman" panose="02020603050405020304"/>
                <a:cs typeface="Times New Roman" panose="02020603050405020304"/>
                <a:sym typeface="Times New Roman" panose="02020603050405020304"/>
              </a:rPr>
              <a:t>42</a:t>
            </a:r>
            <a:endParaRPr kumimoji="0" sz="1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r>
              <a:rPr kumimoji="0" lang="en-US" sz="1800" b="1" i="0" u="none" strike="noStrike" kern="0" cap="none" spc="0" normalizeH="0" baseline="0" noProof="0" dirty="0">
                <a:ln>
                  <a:noFill/>
                </a:ln>
                <a:solidFill>
                  <a:srgbClr val="1F497D"/>
                </a:solidFill>
                <a:effectLst/>
                <a:uLnTx/>
                <a:uFillTx/>
                <a:latin typeface="Times New Roman" panose="02020603050405020304"/>
                <a:cs typeface="Times New Roman" panose="02020603050405020304"/>
                <a:sym typeface="Times New Roman" panose="02020603050405020304"/>
              </a:rPr>
              <a:t>Maanya Chopra, 23109906</a:t>
            </a:r>
            <a:r>
              <a:rPr lang="en-IN" b="1" kern="0" dirty="0">
                <a:solidFill>
                  <a:srgbClr val="1F497D"/>
                </a:solidFill>
                <a:latin typeface="Times New Roman" panose="02020603050405020304"/>
                <a:cs typeface="Times New Roman" panose="02020603050405020304"/>
                <a:sym typeface="Times New Roman" panose="02020603050405020304"/>
              </a:rPr>
              <a:t>45</a:t>
            </a:r>
            <a:endParaRPr lang="en-US" sz="1400" kern="0" dirty="0">
              <a:solidFill>
                <a:srgbClr val="000000"/>
              </a:solidFill>
              <a:latin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r>
              <a:rPr kumimoji="0" 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Manshika, 23109906</a:t>
            </a:r>
            <a:r>
              <a:rPr kumimoji="0" lang="en-IN" alt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50</a:t>
            </a:r>
            <a:endParaRPr kumimoji="0" 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r>
              <a:rPr lang="en-US" b="1" kern="0" dirty="0">
                <a:solidFill>
                  <a:srgbClr val="1F497D"/>
                </a:solidFill>
                <a:latin typeface="Times New Roman" panose="02020603050405020304"/>
                <a:ea typeface="Times New Roman" panose="02020603050405020304"/>
                <a:cs typeface="Times New Roman" panose="02020603050405020304"/>
                <a:sym typeface="Times New Roman" panose="02020603050405020304"/>
              </a:rPr>
              <a:t>Mehak, 2310990655</a:t>
            </a:r>
            <a:endParaRPr kumimoji="0"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r>
              <a:rPr kumimoji="0" 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Class Group: 8</a:t>
            </a: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r>
              <a:rPr kumimoji="0" lang="en-IN" alt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Team Name: </a:t>
            </a:r>
            <a:r>
              <a:rPr kumimoji="0" lang="en-IN" altLang="en-US" sz="1800" b="1" i="0" u="none" strike="noStrike" kern="0" cap="none" spc="0" normalizeH="0" baseline="0" noProof="0" dirty="0" err="1">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InnoSphere</a:t>
            </a:r>
            <a:endParaRPr kumimoji="0" 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r>
              <a:rPr kumimoji="0" lang="en-IN" alt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Project Id: APC-2023</a:t>
            </a:r>
            <a:endParaRPr kumimoji="0" 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r>
              <a:rPr kumimoji="0" lang="en-US" sz="1800" b="1" i="0" u="none" strike="noStrike" kern="0" cap="none" spc="0" normalizeH="0" baseline="0" noProof="0" dirty="0">
                <a:ln>
                  <a:noFill/>
                </a:ln>
                <a:solidFill>
                  <a:srgbClr val="C00000"/>
                </a:solidFill>
                <a:effectLst/>
                <a:uLnTx/>
                <a:uFillTx/>
                <a:latin typeface="Times New Roman" panose="02020603050405020304"/>
                <a:ea typeface="Times New Roman" panose="02020603050405020304"/>
                <a:cs typeface="Times New Roman" panose="02020603050405020304"/>
                <a:sym typeface="Times New Roman" panose="02020603050405020304"/>
              </a:rPr>
              <a:t>Project Guide Name :</a:t>
            </a:r>
            <a:endParaRPr kumimoji="0" sz="1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r>
              <a:rPr kumimoji="0" lang="en-IN" alt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Mohammad Imran </a:t>
            </a:r>
            <a:endParaRPr kumimoji="0" lang="en-US"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r>
              <a:rPr kumimoji="0" lang="en-IN" sz="18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rPr>
              <a:t>APC Trainer</a:t>
            </a:r>
            <a:endParaRPr kumimoji="0" sz="1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panose="020B0604020202020204"/>
              <a:buNone/>
              <a:defRPr/>
            </a:pPr>
            <a:endParaRPr kumimoji="0" sz="3200" b="1" i="0" u="none" strike="noStrike" kern="0" cap="none" spc="0" normalizeH="0" baseline="0" noProof="0" dirty="0">
              <a:ln>
                <a:noFill/>
              </a:ln>
              <a:solidFill>
                <a:srgbClr val="1F497D"/>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endParaRPr kumimoji="0" sz="3200" b="1" i="0" u="none" strike="noStrike" kern="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endParaRPr kumimoji="0" sz="3200" b="1" i="0" u="none" strike="noStrike" kern="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endParaRPr kumimoji="0" sz="4000" b="1" i="0" u="none" strike="noStrike" kern="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endParaRPr kumimoji="0" sz="4000" b="1" i="0" u="none" strike="noStrike" kern="0" cap="none" spc="0" normalizeH="0" baseline="0" noProof="0" dirty="0">
              <a:ln>
                <a:noFill/>
              </a:ln>
              <a:solidFill>
                <a:srgbClr val="00000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47" name="Google Shape;47;p10"/>
          <p:cNvSpPr txBox="1"/>
          <p:nvPr/>
        </p:nvSpPr>
        <p:spPr>
          <a:xfrm>
            <a:off x="1535837" y="971140"/>
            <a:ext cx="5628366" cy="70548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Arial" panose="020B0604020202020204"/>
              <a:buNone/>
              <a:defRPr/>
            </a:pPr>
            <a:r>
              <a:rPr kumimoji="0" lang="en-IN" sz="40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rPr>
              <a:t>APC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prstGeom prst="rect">
            <a:avLst/>
          </a:prstGeom>
          <a:noFill/>
          <a:ln w="0">
            <a:noFill/>
          </a:ln>
        </p:spPr>
        <p:txBody>
          <a:bodyPr lIns="91440" tIns="45720" rIns="91440" bIns="45720" anchor="ctr">
            <a:noAutofit/>
          </a:bodyPr>
          <a:lstStyle/>
          <a:p>
            <a:pPr indent="0" algn="ctr" defTabSz="457200">
              <a:lnSpc>
                <a:spcPct val="100000"/>
              </a:lnSpc>
              <a:buNone/>
            </a:pPr>
            <a:r>
              <a:rPr lang="en-US" sz="4400" b="1" u="none" strike="noStrike" dirty="0">
                <a:solidFill>
                  <a:schemeClr val="dk1"/>
                </a:solidFill>
                <a:uFillTx/>
                <a:latin typeface="Times New Roman" panose="02020603050405020304" pitchFamily="18" charset="0"/>
                <a:cs typeface="Times New Roman" panose="02020603050405020304" pitchFamily="18" charset="0"/>
              </a:rPr>
              <a:t>Introduction</a:t>
            </a:r>
          </a:p>
        </p:txBody>
      </p:sp>
      <p:sp>
        <p:nvSpPr>
          <p:cNvPr id="71" name="PlaceHolder 2"/>
          <p:cNvSpPr>
            <a:spLocks noGrp="1"/>
          </p:cNvSpPr>
          <p:nvPr>
            <p:ph type="body" idx="1"/>
          </p:nvPr>
        </p:nvSpPr>
        <p:spPr>
          <a:xfrm>
            <a:off x="0" y="838201"/>
            <a:ext cx="9143999" cy="5826760"/>
          </a:xfrm>
          <a:prstGeom prst="rect">
            <a:avLst/>
          </a:prstGeom>
          <a:noFill/>
          <a:ln w="0">
            <a:noFill/>
          </a:ln>
        </p:spPr>
        <p:txBody>
          <a:bodyPr lIns="91440" tIns="45720" rIns="91440" bIns="45720" anchor="t">
            <a:noAutofit/>
          </a:bodyPr>
          <a:lstStyle/>
          <a:p>
            <a:pPr marL="0" lvl="0" indent="0" eaLnBrk="0" fontAlgn="base" hangingPunct="0">
              <a:spcBef>
                <a:spcPct val="0"/>
              </a:spcBef>
              <a:spcAft>
                <a:spcPct val="0"/>
              </a:spcAft>
              <a:buClrTx/>
              <a:buSzTx/>
              <a:buFont typeface="+mj-lt"/>
              <a:buNone/>
            </a:pPr>
            <a:r>
              <a:rPr lang="en-IN" altLang="en-US" sz="2400" b="1" dirty="0">
                <a:solidFill>
                  <a:schemeClr val="tx1"/>
                </a:solidFill>
                <a:latin typeface="Times New Roman" panose="02020603050405020304" pitchFamily="18" charset="0"/>
                <a:cs typeface="Times New Roman" panose="02020603050405020304" pitchFamily="18" charset="0"/>
              </a:rPr>
              <a:t>A)</a:t>
            </a:r>
            <a:r>
              <a:rPr lang="en-US" altLang="en-US" sz="2400" b="1" dirty="0">
                <a:solidFill>
                  <a:schemeClr val="tx1"/>
                </a:solidFill>
                <a:latin typeface="Times New Roman" panose="02020603050405020304" pitchFamily="18" charset="0"/>
                <a:cs typeface="Times New Roman" panose="02020603050405020304" pitchFamily="18" charset="0"/>
              </a:rPr>
              <a:t> PROJECT GOALS:</a:t>
            </a:r>
          </a:p>
          <a:p>
            <a:pPr marL="457200" lvl="1" indent="0" algn="just" eaLnBrk="0" fontAlgn="base" hangingPunct="0">
              <a:spcBef>
                <a:spcPct val="0"/>
              </a:spcBef>
              <a:spcAft>
                <a:spcPct val="0"/>
              </a:spcAft>
              <a:buClrTx/>
              <a:buSzTx/>
              <a:buNone/>
            </a:pPr>
            <a:r>
              <a:rPr lang="en-US" altLang="en-US" sz="1800" dirty="0">
                <a:solidFill>
                  <a:schemeClr val="tx1"/>
                </a:solidFill>
                <a:latin typeface="Times New Roman" panose="02020603050405020304" pitchFamily="18" charset="0"/>
                <a:cs typeface="Times New Roman" panose="02020603050405020304" pitchFamily="18" charset="0"/>
              </a:rPr>
              <a:t>The main goal of our Online Examination System is to make exams easier and faster by using a digital platform instead of paper. It helps in saving time for both students and teachers by checking answers automatically and showing results instantly. The system also provides a leaderboard for fair comparison of scores, making the exam process more transparent. Overall, it reduces manual work, avoids mistakes, and gives a simple and user-friendly way to conduct exams.</a:t>
            </a:r>
            <a:endParaRPr lang="en-US" altLang="en-US" sz="1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400" b="1" dirty="0">
                <a:solidFill>
                  <a:schemeClr val="tx1"/>
                </a:solidFill>
                <a:latin typeface="Times New Roman" panose="02020603050405020304" pitchFamily="18" charset="0"/>
                <a:cs typeface="Times New Roman" panose="02020603050405020304" pitchFamily="18" charset="0"/>
              </a:rPr>
              <a:t>B) OBJECTIVES:</a:t>
            </a:r>
          </a:p>
          <a:p>
            <a:pPr marL="457200" lvl="1" indent="0" algn="just" eaLnBrk="0" fontAlgn="base" hangingPunct="0">
              <a:spcBef>
                <a:spcPct val="0"/>
              </a:spcBef>
              <a:spcAft>
                <a:spcPct val="0"/>
              </a:spcAft>
              <a:buClrTx/>
              <a:buSzTx/>
              <a:buNone/>
            </a:pPr>
            <a:r>
              <a:rPr lang="en-US" altLang="en-US" sz="1800" dirty="0">
                <a:solidFill>
                  <a:schemeClr val="tx1"/>
                </a:solidFill>
                <a:latin typeface="Times New Roman" panose="02020603050405020304" pitchFamily="18" charset="0"/>
                <a:cs typeface="Times New Roman" panose="02020603050405020304" pitchFamily="18" charset="0"/>
              </a:rPr>
              <a:t>The main objective of the Online Examination System is to provide a simple and reliable platform for conducting exams online. It allows students to log in, attempt questions, and get their results immediately without waiting. For teachers, it makes managing questions, users, and scores much easier by reducing manual effort. The system also ensures accuracy in checking, saves time, and creates a fair environment through features like instant evaluation and leaderboard.</a:t>
            </a:r>
            <a:endParaRPr lang="en-US" altLang="en-US" sz="2400" b="1"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400" b="1" dirty="0">
                <a:solidFill>
                  <a:schemeClr val="tx1"/>
                </a:solidFill>
                <a:latin typeface="Times New Roman" panose="02020603050405020304" pitchFamily="18" charset="0"/>
                <a:cs typeface="Times New Roman" panose="02020603050405020304" pitchFamily="18" charset="0"/>
              </a:rPr>
              <a:t>C) VISUAL IDEA:</a:t>
            </a:r>
          </a:p>
          <a:p>
            <a:pPr marL="742950" lvl="1"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A simple web-based platform with main pages like Index, Exam, Result, and Leaderboard to guide students smoothly through the exam process.</a:t>
            </a:r>
          </a:p>
          <a:p>
            <a:pPr marL="742950" lvl="1"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Clean and user-friendly interface that allows students to log in, attempt questions, and instantly view results without confusion.</a:t>
            </a:r>
          </a:p>
          <a:p>
            <a:pPr marL="285750" indent="-285750" algn="just" eaLnBrk="0" fontAlgn="base" hangingPunct="0">
              <a:spcBef>
                <a:spcPct val="0"/>
              </a:spcBef>
              <a:spcAft>
                <a:spcPct val="0"/>
              </a:spcAft>
              <a:buClrTx/>
              <a:buSzTx/>
              <a:buFont typeface="Arial" panose="020B0604020202020204" pitchFamily="34" charset="0"/>
              <a:buChar char="•"/>
            </a:pPr>
            <a:r>
              <a:rPr lang="en-IN" altLang="en-US" sz="1800" dirty="0">
                <a:solidFill>
                  <a:schemeClr val="tx1"/>
                </a:solidFill>
                <a:latin typeface="Times New Roman" panose="02020603050405020304" pitchFamily="18" charset="0"/>
                <a:cs typeface="Times New Roman" panose="02020603050405020304" pitchFamily="18" charset="0"/>
              </a:rPr>
              <a:t>        </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prstGeom prst="rect">
            <a:avLst/>
          </a:prstGeom>
          <a:noFill/>
          <a:ln w="0">
            <a:noFill/>
          </a:ln>
        </p:spPr>
        <p:txBody>
          <a:bodyPr lIns="91440" tIns="45720" rIns="91440" bIns="45720" anchor="ctr">
            <a:noAutofit/>
          </a:bodyPr>
          <a:lstStyle/>
          <a:p>
            <a:pPr indent="0" algn="ctr" defTabSz="457200">
              <a:lnSpc>
                <a:spcPct val="100000"/>
              </a:lnSpc>
              <a:buNone/>
            </a:pPr>
            <a:r>
              <a:rPr lang="en-US" sz="4400" b="1" u="none" strike="noStrike" dirty="0">
                <a:solidFill>
                  <a:schemeClr val="dk1"/>
                </a:solidFill>
                <a:uFillTx/>
                <a:latin typeface="Times New Roman" panose="02020603050405020304" pitchFamily="18" charset="0"/>
                <a:cs typeface="Times New Roman" panose="02020603050405020304" pitchFamily="18" charset="0"/>
              </a:rPr>
              <a:t>Problem Statement</a:t>
            </a:r>
          </a:p>
        </p:txBody>
      </p:sp>
      <p:sp>
        <p:nvSpPr>
          <p:cNvPr id="73" name="PlaceHolder 2"/>
          <p:cNvSpPr>
            <a:spLocks noGrp="1"/>
          </p:cNvSpPr>
          <p:nvPr>
            <p:ph type="body" idx="1"/>
          </p:nvPr>
        </p:nvSpPr>
        <p:spPr>
          <a:xfrm>
            <a:off x="0" y="838200"/>
            <a:ext cx="9144000" cy="5867400"/>
          </a:xfrm>
          <a:prstGeom prst="rect">
            <a:avLst/>
          </a:prstGeom>
          <a:noFill/>
          <a:ln w="0">
            <a:noFill/>
          </a:ln>
        </p:spPr>
        <p:txBody>
          <a:bodyPr lIns="91440" tIns="45720" rIns="91440" bIns="45720" anchor="t">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traditional way of conducting examinations has many challenges. Preparing question papers, printing, distributing, and then manually checking answer sheets requires a lot of time and effort from teachers. Students also face delays in receiving their results, which affects quick feedback on their performance. Maintaining records for large groups of students becomes difficult, and mistakes in evaluation are common. These issues make the overall process slow, resource-heavy, and less reliable.</a:t>
            </a:r>
          </a:p>
          <a:p>
            <a:pPr algn="just">
              <a:lnSpc>
                <a:spcPct val="150000"/>
              </a:lnSpc>
            </a:pPr>
            <a:r>
              <a:rPr lang="en-US" sz="1800" dirty="0">
                <a:latin typeface="Times New Roman" panose="02020603050405020304" pitchFamily="18" charset="0"/>
                <a:cs typeface="Times New Roman" panose="02020603050405020304" pitchFamily="18" charset="0"/>
              </a:rPr>
              <a:t>The main problem is the absence of automation in the examination system. Without digital support, exams depend heavily on manual work, which increases the chances of errors and consumes more resources. Therefore, there is a strong need for a system that can automate exams, reduce human effort, ensure accuracy, and provide quick results in a simple and transparent way.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prstGeom prst="rect">
            <a:avLst/>
          </a:prstGeom>
          <a:noFill/>
          <a:ln w="0">
            <a:noFill/>
          </a:ln>
        </p:spPr>
        <p:txBody>
          <a:bodyPr lIns="91440" tIns="45720" rIns="91440" bIns="45720" anchor="ctr">
            <a:noAutofit/>
          </a:bodyPr>
          <a:lstStyle/>
          <a:p>
            <a:pPr indent="0" algn="ctr" defTabSz="457200">
              <a:lnSpc>
                <a:spcPct val="100000"/>
              </a:lnSpc>
              <a:buNone/>
            </a:pPr>
            <a:r>
              <a:rPr lang="en-US" sz="4400" b="1" u="none" strike="noStrike" dirty="0">
                <a:solidFill>
                  <a:schemeClr val="dk1"/>
                </a:solidFill>
                <a:uFillTx/>
                <a:latin typeface="Times New Roman" panose="02020603050405020304" pitchFamily="18" charset="0"/>
                <a:cs typeface="Times New Roman" panose="02020603050405020304" pitchFamily="18" charset="0"/>
              </a:rPr>
              <a:t>System Overview</a:t>
            </a:r>
          </a:p>
        </p:txBody>
      </p:sp>
      <p:sp>
        <p:nvSpPr>
          <p:cNvPr id="75" name="PlaceHolder 2"/>
          <p:cNvSpPr>
            <a:spLocks noGrp="1"/>
          </p:cNvSpPr>
          <p:nvPr>
            <p:ph type="body" idx="1"/>
          </p:nvPr>
        </p:nvSpPr>
        <p:spPr>
          <a:xfrm>
            <a:off x="0" y="838200"/>
            <a:ext cx="9143999" cy="5887065"/>
          </a:xfrm>
          <a:prstGeom prst="rect">
            <a:avLst/>
          </a:prstGeom>
          <a:noFill/>
          <a:ln w="0">
            <a:noFill/>
          </a:ln>
        </p:spPr>
        <p:txBody>
          <a:bodyPr lIns="91440" tIns="45720" rIns="91440" bIns="45720" anchor="t">
            <a:noAutofit/>
          </a:bodyPr>
          <a:lstStyle/>
          <a:p>
            <a:pPr marL="342900" algn="just" defTabSz="457200">
              <a:lnSpc>
                <a:spcPct val="150000"/>
              </a:lnSpc>
              <a:spcBef>
                <a:spcPts val="640"/>
              </a:spcBef>
              <a:buClr>
                <a:srgbClr val="000000"/>
              </a:buClr>
              <a:buFont typeface="Arial" panose="020B0604020202020204" pitchFamily="34" charset="0"/>
              <a:buChar char="•"/>
            </a:pPr>
            <a:r>
              <a:rPr lang="en-US" sz="2000" u="none" strike="noStrike" dirty="0">
                <a:solidFill>
                  <a:schemeClr val="dk1"/>
                </a:solidFill>
                <a:uFillTx/>
                <a:latin typeface="Times New Roman" panose="02020603050405020304" pitchFamily="18" charset="0"/>
                <a:cs typeface="Times New Roman" panose="02020603050405020304" pitchFamily="18" charset="0"/>
              </a:rPr>
              <a:t>The Online Examination Platform is a comprehensive web-based system designed to streamline the exam process for both students and teachers. Students can securely take exams online from anywhere, eliminating the need for physical attendance. The system supports various question types such as multiple-choice, short answer, and descriptive questions. </a:t>
            </a:r>
          </a:p>
          <a:p>
            <a:pPr marL="342900" algn="just" defTabSz="457200">
              <a:lnSpc>
                <a:spcPct val="150000"/>
              </a:lnSpc>
              <a:spcBef>
                <a:spcPts val="640"/>
              </a:spcBef>
              <a:buClr>
                <a:srgbClr val="000000"/>
              </a:buClr>
              <a:buFont typeface="Arial" panose="020B0604020202020204" pitchFamily="34" charset="0"/>
              <a:buChar char="•"/>
            </a:pPr>
            <a:r>
              <a:rPr lang="en-US" sz="2000" u="none" strike="noStrike" dirty="0">
                <a:solidFill>
                  <a:schemeClr val="dk1"/>
                </a:solidFill>
                <a:uFillTx/>
                <a:latin typeface="Times New Roman" panose="02020603050405020304" pitchFamily="18" charset="0"/>
                <a:cs typeface="Times New Roman" panose="02020603050405020304" pitchFamily="18" charset="0"/>
              </a:rPr>
              <a:t>Teachers can create, schedule, and manage exams easily, with automated evaluation for objective questions and digital submission for subjective answers. Real-time results and performance analytics help students track progress and identify areas of improvement. Overall, the platform reduces manual work, ensures accuracy in grading, and provides a fast, convenient, and organized examination experience.</a:t>
            </a:r>
            <a:endParaRPr lang="en-US" altLang="en-US" sz="2000" u="none" strike="noStrike" dirty="0">
              <a:solidFill>
                <a:schemeClr val="dk1"/>
              </a:solidFill>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b="1" dirty="0">
                <a:latin typeface="Times New Roman" panose="02020603050405020304" pitchFamily="18" charset="0"/>
                <a:cs typeface="Times New Roman" panose="02020603050405020304" pitchFamily="18" charset="0"/>
              </a:rPr>
              <a:t>PROJECT OVERVIEW</a:t>
            </a: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smtClean="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5</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pic>
        <p:nvPicPr>
          <p:cNvPr id="9" name="Picture 8">
            <a:extLst>
              <a:ext uri="{FF2B5EF4-FFF2-40B4-BE49-F238E27FC236}">
                <a16:creationId xmlns:a16="http://schemas.microsoft.com/office/drawing/2014/main" id="{54C919A1-ABCE-06F0-25DA-CC09DC0C87C2}"/>
              </a:ext>
            </a:extLst>
          </p:cNvPr>
          <p:cNvPicPr>
            <a:picLocks noChangeAspect="1"/>
          </p:cNvPicPr>
          <p:nvPr/>
        </p:nvPicPr>
        <p:blipFill>
          <a:blip r:embed="rId2"/>
          <a:stretch>
            <a:fillRect/>
          </a:stretch>
        </p:blipFill>
        <p:spPr>
          <a:xfrm>
            <a:off x="344129" y="1262485"/>
            <a:ext cx="3982065" cy="2031322"/>
          </a:xfrm>
          <a:prstGeom prst="rect">
            <a:avLst/>
          </a:prstGeom>
        </p:spPr>
      </p:pic>
      <p:pic>
        <p:nvPicPr>
          <p:cNvPr id="11" name="Picture 10">
            <a:extLst>
              <a:ext uri="{FF2B5EF4-FFF2-40B4-BE49-F238E27FC236}">
                <a16:creationId xmlns:a16="http://schemas.microsoft.com/office/drawing/2014/main" id="{683BA7DD-E23D-0BF6-A384-BDF8D4C23DB7}"/>
              </a:ext>
            </a:extLst>
          </p:cNvPr>
          <p:cNvPicPr>
            <a:picLocks noChangeAspect="1"/>
          </p:cNvPicPr>
          <p:nvPr/>
        </p:nvPicPr>
        <p:blipFill>
          <a:blip r:embed="rId3"/>
          <a:stretch>
            <a:fillRect/>
          </a:stretch>
        </p:blipFill>
        <p:spPr>
          <a:xfrm>
            <a:off x="4640164" y="1262486"/>
            <a:ext cx="4159707" cy="2031322"/>
          </a:xfrm>
          <a:prstGeom prst="rect">
            <a:avLst/>
          </a:prstGeom>
        </p:spPr>
      </p:pic>
      <p:pic>
        <p:nvPicPr>
          <p:cNvPr id="13" name="Picture 12">
            <a:extLst>
              <a:ext uri="{FF2B5EF4-FFF2-40B4-BE49-F238E27FC236}">
                <a16:creationId xmlns:a16="http://schemas.microsoft.com/office/drawing/2014/main" id="{25236D6B-7B59-86FE-701C-D4AF3DA34A13}"/>
              </a:ext>
            </a:extLst>
          </p:cNvPr>
          <p:cNvPicPr>
            <a:picLocks noChangeAspect="1"/>
          </p:cNvPicPr>
          <p:nvPr/>
        </p:nvPicPr>
        <p:blipFill>
          <a:blip r:embed="rId4"/>
          <a:stretch>
            <a:fillRect/>
          </a:stretch>
        </p:blipFill>
        <p:spPr>
          <a:xfrm>
            <a:off x="344129" y="4102204"/>
            <a:ext cx="4007712" cy="2254146"/>
          </a:xfrm>
          <a:prstGeom prst="rect">
            <a:avLst/>
          </a:prstGeom>
        </p:spPr>
      </p:pic>
      <p:pic>
        <p:nvPicPr>
          <p:cNvPr id="15" name="Picture 14">
            <a:extLst>
              <a:ext uri="{FF2B5EF4-FFF2-40B4-BE49-F238E27FC236}">
                <a16:creationId xmlns:a16="http://schemas.microsoft.com/office/drawing/2014/main" id="{C1AF6517-7C76-9C76-57D7-010A767C75B7}"/>
              </a:ext>
            </a:extLst>
          </p:cNvPr>
          <p:cNvPicPr>
            <a:picLocks noChangeAspect="1"/>
          </p:cNvPicPr>
          <p:nvPr/>
        </p:nvPicPr>
        <p:blipFill>
          <a:blip r:embed="rId5"/>
          <a:stretch>
            <a:fillRect/>
          </a:stretch>
        </p:blipFill>
        <p:spPr>
          <a:xfrm>
            <a:off x="4640164" y="4102204"/>
            <a:ext cx="4159707" cy="22541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prstGeom prst="rect">
            <a:avLst/>
          </a:prstGeom>
          <a:noFill/>
          <a:ln w="0">
            <a:noFill/>
          </a:ln>
        </p:spPr>
        <p:txBody>
          <a:bodyPr lIns="91440" tIns="45720" rIns="91440" bIns="45720" anchor="ctr">
            <a:noAutofit/>
          </a:bodyPr>
          <a:lstStyle/>
          <a:p>
            <a:pPr indent="0" algn="ctr" defTabSz="457200">
              <a:lnSpc>
                <a:spcPct val="100000"/>
              </a:lnSpc>
              <a:buNone/>
            </a:pPr>
            <a:r>
              <a:rPr lang="en-US" sz="4400" b="1" u="none" strike="noStrike" dirty="0">
                <a:solidFill>
                  <a:schemeClr val="dk1"/>
                </a:solidFill>
                <a:uFillTx/>
                <a:latin typeface="Times New Roman" panose="02020603050405020304" pitchFamily="18" charset="0"/>
                <a:cs typeface="Times New Roman" panose="02020603050405020304" pitchFamily="18" charset="0"/>
              </a:rPr>
              <a:t>Key Features</a:t>
            </a:r>
          </a:p>
        </p:txBody>
      </p:sp>
      <p:sp>
        <p:nvSpPr>
          <p:cNvPr id="77" name="PlaceHolder 2"/>
          <p:cNvSpPr>
            <a:spLocks noGrp="1"/>
          </p:cNvSpPr>
          <p:nvPr>
            <p:ph type="body" idx="1"/>
          </p:nvPr>
        </p:nvSpPr>
        <p:spPr>
          <a:xfrm>
            <a:off x="0" y="838200"/>
            <a:ext cx="9144000" cy="5887065"/>
          </a:xfrm>
          <a:prstGeom prst="rect">
            <a:avLst/>
          </a:prstGeom>
          <a:noFill/>
          <a:ln w="0">
            <a:noFill/>
          </a:ln>
        </p:spPr>
        <p:txBody>
          <a:bodyPr lIns="91440" tIns="45720" rIns="91440" bIns="45720" anchor="t">
            <a:noAutofit/>
          </a:bodyPr>
          <a:lstStyle/>
          <a:p>
            <a:pPr>
              <a:lnSpc>
                <a:spcPct val="150000"/>
              </a:lnSpc>
            </a:pPr>
            <a:r>
              <a:rPr lang="en-US" sz="2000" b="1" dirty="0">
                <a:latin typeface="Times New Roman" panose="02020603050405020304" pitchFamily="18" charset="0"/>
                <a:cs typeface="Times New Roman" panose="02020603050405020304" pitchFamily="18" charset="0"/>
              </a:rPr>
              <a:t>User Registration &amp; Login </a:t>
            </a:r>
            <a:r>
              <a:rPr lang="en-US" sz="2000" dirty="0">
                <a:latin typeface="Times New Roman" panose="02020603050405020304" pitchFamily="18" charset="0"/>
                <a:cs typeface="Times New Roman" panose="02020603050405020304" pitchFamily="18" charset="0"/>
              </a:rPr>
              <a:t>– Secure, role-based login for students and admins with quick access.</a:t>
            </a:r>
          </a:p>
          <a:p>
            <a:pPr>
              <a:lnSpc>
                <a:spcPct val="150000"/>
              </a:lnSpc>
            </a:pPr>
            <a:r>
              <a:rPr lang="en-US" sz="2000" b="1" dirty="0">
                <a:latin typeface="Times New Roman" panose="02020603050405020304" pitchFamily="18" charset="0"/>
                <a:cs typeface="Times New Roman" panose="02020603050405020304" pitchFamily="18" charset="0"/>
              </a:rPr>
              <a:t>Exam Taking &amp; Instant Results </a:t>
            </a:r>
            <a:r>
              <a:rPr lang="en-US" sz="2000" dirty="0">
                <a:latin typeface="Times New Roman" panose="02020603050405020304" pitchFamily="18" charset="0"/>
                <a:cs typeface="Times New Roman" panose="02020603050405020304" pitchFamily="18" charset="0"/>
              </a:rPr>
              <a:t>– Students can take exams and view results instantly with detailed feedback.</a:t>
            </a:r>
          </a:p>
          <a:p>
            <a:pPr>
              <a:lnSpc>
                <a:spcPct val="150000"/>
              </a:lnSpc>
            </a:pPr>
            <a:r>
              <a:rPr lang="en-US" sz="2000" b="1" dirty="0">
                <a:latin typeface="Times New Roman" panose="02020603050405020304" pitchFamily="18" charset="0"/>
                <a:cs typeface="Times New Roman" panose="02020603050405020304" pitchFamily="18" charset="0"/>
              </a:rPr>
              <a:t>Leaderboard &amp; Performance Tracking </a:t>
            </a:r>
            <a:r>
              <a:rPr lang="en-US" sz="2000" dirty="0">
                <a:latin typeface="Times New Roman" panose="02020603050405020304" pitchFamily="18" charset="0"/>
                <a:cs typeface="Times New Roman" panose="02020603050405020304" pitchFamily="18" charset="0"/>
              </a:rPr>
              <a:t>– Real-time leaderboard with rankings and performance progress.</a:t>
            </a:r>
          </a:p>
          <a:p>
            <a:pPr>
              <a:lnSpc>
                <a:spcPct val="150000"/>
              </a:lnSpc>
            </a:pPr>
            <a:r>
              <a:rPr lang="en-US" sz="2000" b="1" dirty="0">
                <a:latin typeface="Times New Roman" panose="02020603050405020304" pitchFamily="18" charset="0"/>
                <a:cs typeface="Times New Roman" panose="02020603050405020304" pitchFamily="18" charset="0"/>
              </a:rPr>
              <a:t>User Profiles &amp; Records </a:t>
            </a:r>
            <a:r>
              <a:rPr lang="en-US" sz="2000" dirty="0">
                <a:latin typeface="Times New Roman" panose="02020603050405020304" pitchFamily="18" charset="0"/>
                <a:cs typeface="Times New Roman" panose="02020603050405020304" pitchFamily="18" charset="0"/>
              </a:rPr>
              <a:t>– Students can view their history, scores, and personal performance insights.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prstGeom prst="rect">
            <a:avLst/>
          </a:prstGeom>
          <a:noFill/>
          <a:ln w="0">
            <a:noFill/>
          </a:ln>
        </p:spPr>
        <p:txBody>
          <a:bodyPr lIns="91440" tIns="45720" rIns="91440" bIns="45720" anchor="ctr">
            <a:noAutofit/>
          </a:bodyPr>
          <a:lstStyle/>
          <a:p>
            <a:pPr defTabSz="457200"/>
            <a:r>
              <a:rPr lang="en-IN" altLang="en-US" sz="3200" b="1" dirty="0">
                <a:latin typeface="Times New Roman" panose="02020603050405020304" pitchFamily="18" charset="0"/>
                <a:cs typeface="Times New Roman" panose="02020603050405020304" pitchFamily="18" charset="0"/>
              </a:rPr>
              <a:t>Exam &amp; Question Management </a:t>
            </a:r>
          </a:p>
        </p:txBody>
      </p:sp>
      <p:sp>
        <p:nvSpPr>
          <p:cNvPr id="79" name="PlaceHolder 2"/>
          <p:cNvSpPr>
            <a:spLocks noGrp="1"/>
          </p:cNvSpPr>
          <p:nvPr>
            <p:ph type="body" idx="1"/>
          </p:nvPr>
        </p:nvSpPr>
        <p:spPr>
          <a:xfrm>
            <a:off x="0" y="838200"/>
            <a:ext cx="9144000" cy="5847735"/>
          </a:xfrm>
          <a:prstGeom prst="rect">
            <a:avLst/>
          </a:prstGeom>
          <a:noFill/>
          <a:ln w="0">
            <a:noFill/>
          </a:ln>
        </p:spPr>
        <p:txBody>
          <a:bodyPr lIns="91440" tIns="45720" rIns="91440" bIns="45720" anchor="t">
            <a:noAutofit/>
          </a:bodyPr>
          <a:lstStyle/>
          <a:p>
            <a:pPr marL="0" lvl="0" indent="0" algn="just" eaLnBrk="0" fontAlgn="base" hangingPunct="0">
              <a:lnSpc>
                <a:spcPct val="150000"/>
              </a:lnSpc>
              <a:spcBef>
                <a:spcPct val="0"/>
              </a:spcBef>
              <a:spcAft>
                <a:spcPct val="0"/>
              </a:spcAft>
              <a:buClrTx/>
              <a:buSzTx/>
              <a:buFontTx/>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Admins can create, edit, and schedule exams.</a:t>
            </a:r>
          </a:p>
          <a:p>
            <a:pPr marL="0" lvl="0" indent="0" algn="just" eaLnBrk="0" fontAlgn="base" hangingPunct="0">
              <a:lnSpc>
                <a:spcPct val="150000"/>
              </a:lnSpc>
              <a:spcBef>
                <a:spcPct val="0"/>
              </a:spcBef>
              <a:spcAft>
                <a:spcPct val="0"/>
              </a:spcAft>
              <a:buClrTx/>
              <a:buSzTx/>
              <a:buFontTx/>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Add, update, or remove questions with options and answers.</a:t>
            </a:r>
          </a:p>
          <a:p>
            <a:pPr marL="0" lvl="0" indent="0" algn="just" eaLnBrk="0" fontAlgn="base" hangingPunct="0">
              <a:lnSpc>
                <a:spcPct val="150000"/>
              </a:lnSpc>
              <a:spcBef>
                <a:spcPct val="0"/>
              </a:spcBef>
              <a:spcAft>
                <a:spcPct val="0"/>
              </a:spcAft>
              <a:buClrTx/>
              <a:buSzTx/>
              <a:buFontTx/>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Set time limits, difficulty levels, and grading patterns.</a:t>
            </a:r>
          </a:p>
          <a:p>
            <a:pPr marL="0" lvl="0" indent="0" algn="just" eaLnBrk="0" fontAlgn="base" hangingPunct="0">
              <a:lnSpc>
                <a:spcPct val="150000"/>
              </a:lnSpc>
              <a:spcBef>
                <a:spcPct val="0"/>
              </a:spcBef>
              <a:spcAft>
                <a:spcPct val="0"/>
              </a:spcAft>
              <a:buClrTx/>
              <a:buSzTx/>
              <a:buFontTx/>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Ensure real-time updates for exams and question banks.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prstGeom prst="rect">
            <a:avLst/>
          </a:prstGeom>
          <a:noFill/>
          <a:ln w="0">
            <a:noFill/>
          </a:ln>
        </p:spPr>
        <p:txBody>
          <a:bodyPr lIns="91440" tIns="45720" rIns="91440" bIns="45720" anchor="ctr">
            <a:noAutofit/>
          </a:bodyPr>
          <a:lstStyle/>
          <a:p>
            <a:pPr defTabSz="457200"/>
            <a:r>
              <a:rPr lang="en-US" sz="4400" b="1" dirty="0">
                <a:latin typeface="Times New Roman" panose="02020603050405020304" pitchFamily="18" charset="0"/>
                <a:cs typeface="Times New Roman" panose="02020603050405020304" pitchFamily="18" charset="0"/>
              </a:rPr>
              <a:t>User Registration</a:t>
            </a:r>
            <a:r>
              <a:rPr lang="en-IN" altLang="en-US" sz="4400" b="1" dirty="0">
                <a:latin typeface="Times New Roman" panose="02020603050405020304" pitchFamily="18" charset="0"/>
                <a:cs typeface="Times New Roman" panose="02020603050405020304" pitchFamily="18" charset="0"/>
              </a:rPr>
              <a:t> &amp;Login</a:t>
            </a:r>
            <a:endParaRPr lang="en-IN" altLang="en-US" sz="4400" b="1" u="none" strike="noStrike" dirty="0">
              <a:solidFill>
                <a:schemeClr val="dk1"/>
              </a:solidFill>
              <a:uFillTx/>
              <a:latin typeface="Times New Roman" panose="02020603050405020304" pitchFamily="18" charset="0"/>
              <a:cs typeface="Times New Roman" panose="02020603050405020304" pitchFamily="18" charset="0"/>
            </a:endParaRPr>
          </a:p>
        </p:txBody>
      </p:sp>
      <p:sp>
        <p:nvSpPr>
          <p:cNvPr id="81" name="PlaceHolder 2"/>
          <p:cNvSpPr>
            <a:spLocks noGrp="1"/>
          </p:cNvSpPr>
          <p:nvPr>
            <p:ph type="body" idx="1"/>
          </p:nvPr>
        </p:nvSpPr>
        <p:spPr>
          <a:xfrm>
            <a:off x="137652" y="914400"/>
            <a:ext cx="8937521" cy="5791200"/>
          </a:xfrm>
          <a:prstGeom prst="rect">
            <a:avLst/>
          </a:prstGeom>
          <a:noFill/>
          <a:ln w="0">
            <a:noFill/>
          </a:ln>
        </p:spPr>
        <p:txBody>
          <a:bodyPr lIns="91440" tIns="45720" rIns="91440" bIns="45720" anchor="t">
            <a:noAutofit/>
          </a:bodyPr>
          <a:lstStyle/>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secure and streamlined registration process allows students to create accounts effortlessly.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Role-based login ensures that admins manage exams while students access tests and results, improving security.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provides a fast, intuitive, and user-friendly login experience across devices.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prstGeom prst="rect">
            <a:avLst/>
          </a:prstGeom>
          <a:noFill/>
          <a:ln w="0">
            <a:noFill/>
          </a:ln>
        </p:spPr>
        <p:txBody>
          <a:bodyPr lIns="91440" tIns="45720" rIns="91440" bIns="45720" anchor="ctr">
            <a:noAutofit/>
          </a:bodyPr>
          <a:lstStyle/>
          <a:p>
            <a:r>
              <a:rPr lang="en-IN" sz="2800" b="1" dirty="0"/>
              <a:t>Leaderboard &amp; Performance Tracking</a:t>
            </a:r>
          </a:p>
        </p:txBody>
      </p:sp>
      <p:sp>
        <p:nvSpPr>
          <p:cNvPr id="85" name="PlaceHolder 2"/>
          <p:cNvSpPr>
            <a:spLocks noGrp="1"/>
          </p:cNvSpPr>
          <p:nvPr>
            <p:ph type="body" idx="1"/>
          </p:nvPr>
        </p:nvSpPr>
        <p:spPr>
          <a:xfrm>
            <a:off x="0" y="838200"/>
            <a:ext cx="9143999" cy="5877232"/>
          </a:xfrm>
          <a:prstGeom prst="rect">
            <a:avLst/>
          </a:prstGeom>
          <a:noFill/>
          <a:ln w="0">
            <a:noFill/>
          </a:ln>
        </p:spPr>
        <p:txBody>
          <a:bodyPr lIns="91440" tIns="45720" rIns="91440" bIns="45720" anchor="t">
            <a:noAutofit/>
          </a:bodyPr>
          <a:lstStyle/>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platform features a dynamic leaderboard showcasing top scorers and ranks in real-time. </a:t>
            </a:r>
          </a:p>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Students can monitor their progress over multiple exams and identify strengths or weaknesses. </a:t>
            </a:r>
          </a:p>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This competitive yet motivating feature encourages continuous improvement and boosts engagement.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Responsive &amp; Role-Based Access</a:t>
            </a:r>
          </a:p>
        </p:txBody>
      </p:sp>
      <p:sp>
        <p:nvSpPr>
          <p:cNvPr id="3" name="Text Placeholder 2"/>
          <p:cNvSpPr>
            <a:spLocks noGrp="1"/>
          </p:cNvSpPr>
          <p:nvPr>
            <p:ph type="body" idx="1"/>
          </p:nvPr>
        </p:nvSpPr>
        <p:spPr>
          <a:xfrm>
            <a:off x="0" y="838200"/>
            <a:ext cx="9144000" cy="5883275"/>
          </a:xfrm>
        </p:spPr>
        <p:txBody>
          <a:bodyPr/>
          <a:lstStyle/>
          <a:p>
            <a:pPr algn="just">
              <a:lnSpc>
                <a:spcPct val="150000"/>
              </a:lnSpc>
            </a:pPr>
            <a:r>
              <a:rPr lang="en-US" altLang="en-US" sz="2400" dirty="0">
                <a:latin typeface="Times New Roman" panose="02020603050405020304" pitchFamily="18" charset="0"/>
                <a:cs typeface="Times New Roman" panose="02020603050405020304" pitchFamily="18" charset="0"/>
              </a:rPr>
              <a:t>Role-based login system ensures students, teachers, and admins only access features relevant to them.</a:t>
            </a:r>
          </a:p>
          <a:p>
            <a:pPr algn="just">
              <a:lnSpc>
                <a:spcPct val="150000"/>
              </a:lnSpc>
            </a:pPr>
            <a:r>
              <a:rPr lang="en-US" altLang="en-US" sz="2400" dirty="0">
                <a:latin typeface="Times New Roman" panose="02020603050405020304" pitchFamily="18" charset="0"/>
                <a:cs typeface="Times New Roman" panose="02020603050405020304" pitchFamily="18" charset="0"/>
              </a:rPr>
              <a:t>Enhances security by restricting sensitive actions (like exam creation or result management) to admins only.</a:t>
            </a:r>
          </a:p>
          <a:p>
            <a:pPr algn="just">
              <a:lnSpc>
                <a:spcPct val="150000"/>
              </a:lnSpc>
            </a:pPr>
            <a:r>
              <a:rPr lang="en-US" altLang="en-US" sz="2400" dirty="0">
                <a:latin typeface="Times New Roman" panose="02020603050405020304" pitchFamily="18" charset="0"/>
                <a:cs typeface="Times New Roman" panose="02020603050405020304" pitchFamily="18" charset="0"/>
              </a:rPr>
              <a:t>Provides a clear and organized user experience by showing each user their specific tools and dashboards.</a:t>
            </a: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smtClean="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10</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prstGeom prst="rect">
            <a:avLst/>
          </a:prstGeom>
          <a:noFill/>
          <a:ln w="0">
            <a:noFill/>
          </a:ln>
        </p:spPr>
        <p:txBody>
          <a:bodyPr lIns="91440" tIns="45720" rIns="91440" bIns="45720" anchor="ctr">
            <a:noAutofit/>
          </a:bodyPr>
          <a:lstStyle/>
          <a:p>
            <a:pPr indent="0" algn="ctr" defTabSz="457200">
              <a:lnSpc>
                <a:spcPct val="100000"/>
              </a:lnSpc>
              <a:buNone/>
            </a:pPr>
            <a:r>
              <a:rPr lang="en-US" sz="4400" b="1" u="none" strike="noStrike">
                <a:solidFill>
                  <a:schemeClr val="dk1"/>
                </a:solidFill>
                <a:uFillTx/>
                <a:latin typeface="Calibri" panose="020F0502020204030204"/>
              </a:rPr>
              <a:t>Conclusion</a:t>
            </a:r>
          </a:p>
        </p:txBody>
      </p:sp>
      <p:sp>
        <p:nvSpPr>
          <p:cNvPr id="87" name="PlaceHolder 2"/>
          <p:cNvSpPr>
            <a:spLocks noGrp="1"/>
          </p:cNvSpPr>
          <p:nvPr>
            <p:ph type="body" idx="1"/>
          </p:nvPr>
        </p:nvSpPr>
        <p:spPr>
          <a:xfrm>
            <a:off x="0" y="838200"/>
            <a:ext cx="9144000" cy="5789295"/>
          </a:xfrm>
          <a:prstGeom prst="rect">
            <a:avLst/>
          </a:prstGeom>
          <a:noFill/>
          <a:ln w="0">
            <a:noFill/>
          </a:ln>
        </p:spPr>
        <p:txBody>
          <a:bodyPr lIns="91440" tIns="45720" rIns="91440" bIns="45720" anchor="t">
            <a:noAutofit/>
          </a:bodyPr>
          <a:lstStyle/>
          <a:p>
            <a:pPr marL="0" lvl="0" indent="0" algn="just" eaLnBrk="0" fontAlgn="base" hangingPunct="0">
              <a:lnSpc>
                <a:spcPct val="150000"/>
              </a:lnSpc>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The Online Examination Platform is a modern, efficient, and secure solution that transforms the traditional examination process into a fully digital experience. It ensures that students can take exams from anywhere, while teachers can manage, schedule, and evaluate exams with ease. By automating the grading of objective questions, the system significantly reduces manual effort, saves time, and minimizes errors.</a:t>
            </a:r>
          </a:p>
          <a:p>
            <a:pPr marL="0" lvl="0" indent="0" algn="just" eaLnBrk="0" fontAlgn="base" hangingPunct="0">
              <a:lnSpc>
                <a:spcPct val="150000"/>
              </a:lnSpc>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The platform also provides real-time results and performance analytics, helping students understand their strengths and areas for improvement. Its support for multiple question types makes it flexible for different assessment needs. With secure access, organized record-keeping, and user-friendly design, the system ensures fairness, transparency, and reliability in examinations.</a:t>
            </a:r>
          </a:p>
          <a:p>
            <a:pPr marL="0" lvl="0" indent="0" algn="just" eaLnBrk="0" fontAlgn="base" hangingPunct="0">
              <a:lnSpc>
                <a:spcPct val="150000"/>
              </a:lnSpc>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Overall, this platform enhances the overall efficiency of the examination process, improves the learning experience, and aligns with modern educational needs by making exams more accessible, organized, and technologically advanced. It is a step forward in creating a smarter, faster, and more effective way of conducting exams in educational institutions.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2c78129218a_0_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rPr>
              <a:t>12</a:t>
            </a:fld>
            <a:endParaRPr kumimoji="0" lang="en-US" sz="1200" b="0" i="0" u="none" strike="noStrike" kern="0" cap="none" spc="0" normalizeH="0" baseline="0" noProof="0">
              <a:ln>
                <a:noFill/>
              </a:ln>
              <a:solidFill>
                <a:srgbClr val="898989"/>
              </a:solidFill>
              <a:effectLst/>
              <a:uLnTx/>
              <a:uFillTx/>
              <a:latin typeface="Calibri" panose="020F0502020204030204"/>
              <a:ea typeface="Calibri" panose="020F0502020204030204"/>
              <a:cs typeface="Calibri" panose="020F0502020204030204"/>
              <a:sym typeface="Calibri" panose="020F0502020204030204"/>
            </a:endParaRPr>
          </a:p>
        </p:txBody>
      </p:sp>
      <p:sp>
        <p:nvSpPr>
          <p:cNvPr id="104" name="Google Shape;104;g2c78129218a_0_8"/>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9600" b="1" i="0" u="none" strike="noStrike" kern="0" cap="none" spc="0" normalizeH="0" baseline="0" noProof="0">
                <a:ln>
                  <a:noFill/>
                </a:ln>
                <a:solidFill>
                  <a:srgbClr val="D6E3BC"/>
                </a:solidFill>
                <a:effectLst/>
                <a:uLnTx/>
                <a:uFillTx/>
                <a:latin typeface="Times New Roman" panose="02020603050405020304"/>
                <a:ea typeface="Times New Roman" panose="02020603050405020304"/>
                <a:cs typeface="Times New Roman" panose="02020603050405020304"/>
                <a:sym typeface="Times New Roman" panose="02020603050405020304"/>
              </a:rPr>
              <a:t>Thank</a:t>
            </a:r>
            <a:r>
              <a:rPr kumimoji="0" lang="en-US" sz="11500" b="1" i="0" u="none" strike="noStrike" kern="0" cap="none" spc="0" normalizeH="0" baseline="0" noProof="0">
                <a:ln>
                  <a:noFill/>
                </a:ln>
                <a:solidFill>
                  <a:srgbClr val="D6E3BC"/>
                </a:solidFill>
                <a:effectLst/>
                <a:uLnTx/>
                <a:uFillTx/>
                <a:latin typeface="Arial" panose="020B0604020202020204"/>
                <a:cs typeface="Arial" panose="020B0604020202020204"/>
                <a:sym typeface="Arial" panose="020B0604020202020204"/>
              </a:rPr>
              <a:t>  you </a:t>
            </a: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998</Words>
  <Application>Microsoft Office PowerPoint</Application>
  <PresentationFormat>On-screen Show (4:3)</PresentationFormat>
  <Paragraphs>74</Paragraphs>
  <Slides>12</Slides>
  <Notes>2</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12</vt:i4>
      </vt:variant>
    </vt:vector>
  </HeadingPairs>
  <TitlesOfParts>
    <vt:vector size="20" baseType="lpstr">
      <vt:lpstr>Arial</vt:lpstr>
      <vt:lpstr>Calibri</vt:lpstr>
      <vt:lpstr>Times New Roman</vt:lpstr>
      <vt:lpstr>Office Theme</vt:lpstr>
      <vt:lpstr>2_Office Theme</vt:lpstr>
      <vt:lpstr>3_Office Theme</vt:lpstr>
      <vt:lpstr>1_Office Theme</vt:lpstr>
      <vt:lpstr>4_Office Theme</vt:lpstr>
      <vt:lpstr>PowerPoint Presentation</vt:lpstr>
      <vt:lpstr>Introduction</vt:lpstr>
      <vt:lpstr>Problem Statement</vt:lpstr>
      <vt:lpstr>System Overview</vt:lpstr>
      <vt:lpstr>PROJECT OVERVIEW</vt:lpstr>
      <vt:lpstr>Key Features</vt:lpstr>
      <vt:lpstr>Exam &amp; Question Management </vt:lpstr>
      <vt:lpstr>User Registration &amp;Login</vt:lpstr>
      <vt:lpstr>Leaderboard &amp; Performance Tracking</vt:lpstr>
      <vt:lpstr>Responsive &amp; Role-Based Access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 Gupta</dc:creator>
  <dc:description>generated using python-pptx</dc:description>
  <cp:lastModifiedBy>Chitransh Goyal</cp:lastModifiedBy>
  <cp:revision>33</cp:revision>
  <dcterms:created xsi:type="dcterms:W3CDTF">2013-01-27T09:14:00Z</dcterms:created>
  <dcterms:modified xsi:type="dcterms:W3CDTF">2025-09-29T15:16:21Z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ICV">
    <vt:lpwstr>14BDEEE99888471498541B6F65515ED1_13</vt:lpwstr>
  </property>
  <property fmtid="{D5CDD505-2E9C-101B-9397-08002B2CF9AE}" pid="4" name="KSOProductBuildVer">
    <vt:lpwstr>1033-12.2.0.22549</vt:lpwstr>
  </property>
</Properties>
</file>